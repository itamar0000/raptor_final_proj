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3864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F3864"/>
                </a:solidFill>
                <a:latin typeface="Arial"/>
              </a:rPr>
              <a:t>Answer Status Distribution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07B39"/>
              </a:solidFill>
              <a:effectLst/>
            </c:spPr>
          </c:dPt>
          <c:dPt>
            <c:idx val="1"/>
            <c:bubble3D val="0"/>
            <c:spPr>
              <a:solidFill>
                <a:srgbClr val="B85042"/>
              </a:solidFill>
              <a:effectLst/>
            </c:spPr>
          </c:dPt>
          <c:dPt>
            <c:idx val="2"/>
            <c:bubble3D val="0"/>
            <c:spPr>
              <a:solidFill>
                <a:srgbClr val="276221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Insufficient Context (90%)</c:v>
                </c:pt>
                <c:pt idx="1">
                  <c:v>Pipeline Error (6%)</c:v>
                </c:pt>
                <c:pt idx="2">
                  <c:v>Answered (4%)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45</c:v>
                </c:pt>
                <c:pt idx="1">
                  <c:v>3</c:v>
                </c:pt>
                <c:pt idx="2">
                  <c:v>2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4F7F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F3864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F3864"/>
                </a:solidFill>
                <a:latin typeface="Arial"/>
              </a:rPr>
              <a:t>RAPTOR vs. Baseline (Original Paper Results, GPT-4)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Best Baseline (paper)</c:v>
                </c:pt>
              </c:strCache>
            </c:strRef>
          </c:tx>
          <c:spPr>
            <a:solidFill>
              <a:srgbClr val="8D99A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1182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QuALITY
(Accuracy)</c:v>
                  </c:pt>
                  <c:pt idx="1">
                    <c:v>NarrativeQA
(METEOR)</c:v>
                  </c:pt>
                  <c:pt idx="2">
                    <c:v>QASPER
(F-1)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56.1</c:v>
                </c:pt>
                <c:pt idx="1">
                  <c:v>12.1</c:v>
                </c:pt>
                <c:pt idx="2">
                  <c:v>42.2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RAPTOR (paper, GPT-4)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1182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QuALITY
(Accuracy)</c:v>
                  </c:pt>
                  <c:pt idx="1">
                    <c:v>NarrativeQA
(METEOR)</c:v>
                  </c:pt>
                  <c:pt idx="2">
                    <c:v>QASPER
(F-1)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76.2</c:v>
                </c:pt>
                <c:pt idx="1">
                  <c:v>17.5</c:v>
                </c:pt>
                <c:pt idx="2">
                  <c:v>55.7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1182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6309360" y="0"/>
            <a:ext cx="164592" cy="5143500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02920"/>
            <a:ext cx="5669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RAPTOR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5669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Abstractive Processing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Tree-Organized Retrieval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2788920"/>
            <a:ext cx="5303520" cy="0"/>
          </a:xfrm>
          <a:prstGeom prst="line">
            <a:avLst/>
          </a:prstGeom>
          <a:noFill/>
          <a:ln w="25400">
            <a:solidFill>
              <a:srgbClr val="E07B3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907792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Reproduction Study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33756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Submission — Seminar in Software Engineering 157119.5785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Eitan Weizman &amp; Itamar Haimov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720840" y="5029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Paper: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720840" y="77724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Sarthi et al.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ICLR 2024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arXiv:2401.18059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766560" y="1719072"/>
            <a:ext cx="2103120" cy="0"/>
          </a:xfrm>
          <a:prstGeom prst="line">
            <a:avLst/>
          </a:prstGeom>
          <a:noFill/>
          <a:ln w="12700">
            <a:solidFill>
              <a:srgbClr val="E07B3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20840" y="182880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Reproduction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Ollama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720840" y="256032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 Benchmark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720840" y="329184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Questions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64592"/>
            <a:ext cx="384048" cy="384048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49808" y="1371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Problem &amp; Motivation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658368"/>
            <a:ext cx="8595360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7724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Standard RAG Fails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274320" y="1298448"/>
            <a:ext cx="64008" cy="685800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8" name="Text 6"/>
          <p:cNvSpPr/>
          <p:nvPr/>
        </p:nvSpPr>
        <p:spPr>
          <a:xfrm>
            <a:off x="429768" y="129844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Context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9768" y="157276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chunks (~100 tokens) miss the document's global theme.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167128"/>
            <a:ext cx="64008" cy="685800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11" name="Text 9"/>
          <p:cNvSpPr/>
          <p:nvPr/>
        </p:nvSpPr>
        <p:spPr>
          <a:xfrm>
            <a:off x="429768" y="216712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Blindness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9768" y="244144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holistic view — systematic errors on broad questions.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3035808"/>
            <a:ext cx="64008" cy="685800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14" name="Text 12"/>
          <p:cNvSpPr/>
          <p:nvPr/>
        </p:nvSpPr>
        <p:spPr>
          <a:xfrm>
            <a:off x="429768" y="303580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Contiguity Limit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29768" y="331012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only retrieve contiguous passages; cannot bridge distant sections.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904488"/>
            <a:ext cx="64008" cy="685800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17" name="Text 15"/>
          <p:cNvSpPr/>
          <p:nvPr/>
        </p:nvSpPr>
        <p:spPr>
          <a:xfrm>
            <a:off x="429768" y="390448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Multi-Hop Failure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29768" y="417880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connect facts spread across different pages or documents.</a:t>
            </a:r>
            <a:endParaRPr lang="en-US" sz="1100" dirty="0"/>
          </a:p>
        </p:txBody>
      </p:sp>
      <p:pic>
        <p:nvPicPr>
          <p:cNvPr id="19" name="Image 0" descr="C:\Users\olete\OneDrive\Desktop\RAPTOR\raptor_final_proj\RAPTOR_final_proj\outputs\figures\fig6_tree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777240"/>
            <a:ext cx="4297680" cy="256032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4572000" y="338328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RAPTOR Tree Structure — multiple abstraction levels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274320" y="4828032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Sarthi et al., RAPTOR (ICLR 2024)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64592"/>
            <a:ext cx="384048" cy="384048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49808" y="1371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Key Idea — RAPTOR Tree Construction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658368"/>
            <a:ext cx="8595360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14400"/>
            <a:ext cx="150876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6092" y="1078992"/>
            <a:ext cx="493776" cy="493776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8" name="Text 6"/>
          <p:cNvSpPr/>
          <p:nvPr/>
        </p:nvSpPr>
        <p:spPr>
          <a:xfrm>
            <a:off x="736092" y="10789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28600" y="169164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28600" y="2103120"/>
            <a:ext cx="15087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~100-token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sentence-aware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764792" y="1965960"/>
            <a:ext cx="173736" cy="0"/>
          </a:xfrm>
          <a:prstGeom prst="line">
            <a:avLst/>
          </a:prstGeom>
          <a:noFill/>
          <a:ln w="25400">
            <a:solidFill>
              <a:srgbClr val="E07B3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38528" y="914400"/>
            <a:ext cx="150876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46020" y="1078992"/>
            <a:ext cx="493776" cy="493776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4" name="Text 12"/>
          <p:cNvSpPr/>
          <p:nvPr/>
        </p:nvSpPr>
        <p:spPr>
          <a:xfrm>
            <a:off x="2446020" y="10789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938528" y="169164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938528" y="2103120"/>
            <a:ext cx="15087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vectors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(nomic-embed-text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768-dim)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474720" y="1965960"/>
            <a:ext cx="173736" cy="0"/>
          </a:xfrm>
          <a:prstGeom prst="line">
            <a:avLst/>
          </a:prstGeom>
          <a:noFill/>
          <a:ln w="25400">
            <a:solidFill>
              <a:srgbClr val="E07B3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48456" y="914400"/>
            <a:ext cx="150876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155948" y="1078992"/>
            <a:ext cx="493776" cy="493776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20" name="Text 18"/>
          <p:cNvSpPr/>
          <p:nvPr/>
        </p:nvSpPr>
        <p:spPr>
          <a:xfrm>
            <a:off x="4155948" y="10789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648456" y="169164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48456" y="2103120"/>
            <a:ext cx="15087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UMAP + GMM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assignment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 auto-k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184648" y="1965960"/>
            <a:ext cx="173736" cy="0"/>
          </a:xfrm>
          <a:prstGeom prst="line">
            <a:avLst/>
          </a:prstGeom>
          <a:noFill/>
          <a:ln w="25400">
            <a:solidFill>
              <a:srgbClr val="E07B3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58384" y="914400"/>
            <a:ext cx="150876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865876" y="1078992"/>
            <a:ext cx="493776" cy="493776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26" name="Text 24"/>
          <p:cNvSpPr/>
          <p:nvPr/>
        </p:nvSpPr>
        <p:spPr>
          <a:xfrm>
            <a:off x="5865876" y="10789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358384" y="169164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58384" y="2103120"/>
            <a:ext cx="15087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generates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summaries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(Qwen 2.5 7B)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894576" y="1965960"/>
            <a:ext cx="173736" cy="0"/>
          </a:xfrm>
          <a:prstGeom prst="line">
            <a:avLst/>
          </a:prstGeom>
          <a:noFill/>
          <a:ln w="25400">
            <a:solidFill>
              <a:srgbClr val="E07B3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068312" y="914400"/>
            <a:ext cx="1508760" cy="2103120"/>
          </a:xfrm>
          <a:prstGeom prst="rect">
            <a:avLst/>
          </a:prstGeom>
          <a:solidFill>
            <a:srgbClr val="1F3864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575804" y="1078992"/>
            <a:ext cx="493776" cy="493776"/>
          </a:xfrm>
          <a:prstGeom prst="ellipse">
            <a:avLst/>
          </a:prstGeom>
          <a:solidFill>
            <a:srgbClr val="E07B39"/>
          </a:solidFill>
          <a:ln/>
        </p:spPr>
      </p:sp>
      <p:sp>
        <p:nvSpPr>
          <p:cNvPr id="32" name="Text 30"/>
          <p:cNvSpPr/>
          <p:nvPr/>
        </p:nvSpPr>
        <p:spPr>
          <a:xfrm>
            <a:off x="7575804" y="10789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068312" y="169164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068312" y="2103120"/>
            <a:ext cx="15087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until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further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28600" y="3246120"/>
            <a:ext cx="2011680" cy="685800"/>
          </a:xfrm>
          <a:prstGeom prst="rect">
            <a:avLst/>
          </a:prstGeom>
          <a:solidFill>
            <a:srgbClr val="5C8374"/>
          </a:solidFill>
          <a:ln/>
        </p:spPr>
      </p:sp>
      <p:sp>
        <p:nvSpPr>
          <p:cNvPr id="36" name="Text 34"/>
          <p:cNvSpPr/>
          <p:nvPr/>
        </p:nvSpPr>
        <p:spPr>
          <a:xfrm>
            <a:off x="228600" y="32461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Leaf Layer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28600" y="35387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~100-token chunks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487168" y="3246120"/>
            <a:ext cx="2011680" cy="685800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39" name="Text 37"/>
          <p:cNvSpPr/>
          <p:nvPr/>
        </p:nvSpPr>
        <p:spPr>
          <a:xfrm>
            <a:off x="2487168" y="32461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Middle Layers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2487168" y="35387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LLM-generated cluster summaries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745736" y="3246120"/>
            <a:ext cx="2011680" cy="6858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42" name="Text 40"/>
          <p:cNvSpPr/>
          <p:nvPr/>
        </p:nvSpPr>
        <p:spPr>
          <a:xfrm>
            <a:off x="4745736" y="32461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Root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745736" y="35387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Highest-level document summary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7004304" y="3246120"/>
            <a:ext cx="2011680" cy="685800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45" name="Text 43"/>
          <p:cNvSpPr/>
          <p:nvPr/>
        </p:nvSpPr>
        <p:spPr>
          <a:xfrm>
            <a:off x="7004304" y="32461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Soft Clustering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004304" y="35387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may belong to multiple clusters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274320" y="4828032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Sarthi et al., RAPTOR (ICLR 2024)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64592"/>
            <a:ext cx="384048" cy="384048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49808" y="1371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Methods — Local Ollama Adaptation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658368"/>
            <a:ext cx="8595360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22960"/>
            <a:ext cx="4023360" cy="1600200"/>
          </a:xfrm>
          <a:prstGeom prst="rect">
            <a:avLst/>
          </a:prstGeom>
          <a:solidFill>
            <a:srgbClr val="FFEBEE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8229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Paper (API)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207008"/>
            <a:ext cx="37490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Summarization: </a:t>
            </a:r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Embeddings: </a:t>
            </a:r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text-embedding-ada-002 (1536d)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Model: </a:t>
            </a:r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560320"/>
            <a:ext cx="4023360" cy="160020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4320" y="25603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762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Reproduction (Ollama)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2944368"/>
            <a:ext cx="37490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Summarization: </a:t>
            </a:r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2.5 7B Instruct (local)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Embeddings: </a:t>
            </a:r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nomic-embed-text (768d)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Model: </a:t>
            </a:r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2.5 7B Instruct (local)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86000" y="2432304"/>
            <a:ext cx="0" cy="146304"/>
          </a:xfrm>
          <a:prstGeom prst="line">
            <a:avLst/>
          </a:prstGeom>
          <a:noFill/>
          <a:ln w="25400">
            <a:solidFill>
              <a:srgbClr val="E07B3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0" y="239572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replaced with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663440" y="82296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Retrieval: Collapsed Tree Strategy</a:t>
            </a:r>
            <a:endParaRPr lang="en-US" sz="1400" dirty="0"/>
          </a:p>
        </p:txBody>
      </p:sp>
      <p:pic>
        <p:nvPicPr>
          <p:cNvPr id="15" name="Image 0" descr="C:\Users\olete\OneDrive\Desktop\RAPTOR\raptor_final_proj\RAPTOR_final_proj\outputs\figures\fig7_retrieval_strategi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1261872"/>
            <a:ext cx="4206240" cy="246888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4663440" y="37490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Collapsed Tree outperforms Tree Traversal on all benchmarks (paper results)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274320" y="4828032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Sarthi et al., RAPTOR (ICLR 2024)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64592"/>
            <a:ext cx="384048" cy="384048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49808" y="1371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Data — FRAMES Multi-Hop Benchmark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658368"/>
            <a:ext cx="8595360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04672"/>
            <a:ext cx="41148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04672"/>
            <a:ext cx="73152" cy="822960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8503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0789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FRAMES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13716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Factuality, Retrieval &amp; Reasoning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792224"/>
            <a:ext cx="41148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792224"/>
            <a:ext cx="73152" cy="822960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18379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206654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Multi-Hop QA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235915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Wikipedia articles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779776"/>
            <a:ext cx="41148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779776"/>
            <a:ext cx="73152" cy="822960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8254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Test Size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305409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824 questions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334670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evaluated 50 samples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3767328"/>
            <a:ext cx="41148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767328"/>
            <a:ext cx="73152" cy="822960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8130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Source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40416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Wikipedia API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" y="433425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 article fetching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804672"/>
            <a:ext cx="4206240" cy="2011680"/>
          </a:xfrm>
          <a:prstGeom prst="rect">
            <a:avLst/>
          </a:prstGeom>
          <a:solidFill>
            <a:srgbClr val="1F3864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00600" y="8686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FRAMES Question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00600" y="123444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"If my future wife has the same first name as the 15th first lady's mother and her surname is the second assassinated president's mother's maiden name, what is my future wife's name?"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800600" y="221284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Answer: Jane Ballou</a:t>
            </a:r>
            <a:endParaRPr lang="en-US" sz="1100" dirty="0"/>
          </a:p>
        </p:txBody>
      </p:sp>
      <p:pic>
        <p:nvPicPr>
          <p:cNvPr id="30" name="Image 0" descr="C:\Users\olete\OneDrive\Desktop\RAPTOR\raptor_final_proj\RAPTOR_final_proj\outputs\figures\fig2_articles_per_ques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2926080"/>
            <a:ext cx="4206240" cy="192024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4663440" y="4828032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Wikipedia articles fetched per FRAMES question (avg = 0.94)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64592"/>
            <a:ext cx="384048" cy="384048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49808" y="1371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 Results — FRAMES Evaluation (n = 50)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658368"/>
            <a:ext cx="8595360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04672"/>
            <a:ext cx="1920240" cy="1234440"/>
          </a:xfrm>
          <a:prstGeom prst="rect">
            <a:avLst/>
          </a:prstGeom>
          <a:solidFill>
            <a:srgbClr val="1F3864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804672"/>
            <a:ext cx="192024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74320" y="1483614"/>
            <a:ext cx="1920240" cy="518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Questions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Evaluated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50592" y="804672"/>
            <a:ext cx="1920240" cy="1234440"/>
          </a:xfrm>
          <a:prstGeom prst="rect">
            <a:avLst/>
          </a:prstGeom>
          <a:solidFill>
            <a:srgbClr val="2E5090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50592" y="804672"/>
            <a:ext cx="192024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47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450592" y="1483614"/>
            <a:ext cx="1920240" cy="518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Non-Empty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Answers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26864" y="804672"/>
            <a:ext cx="1920240" cy="1234440"/>
          </a:xfrm>
          <a:prstGeom prst="rect">
            <a:avLst/>
          </a:prstGeom>
          <a:solidFill>
            <a:srgbClr val="E07B39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26864" y="804672"/>
            <a:ext cx="192024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4%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626864" y="1483614"/>
            <a:ext cx="1920240" cy="518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Soft Accuracy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(Gold Found)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03136" y="804672"/>
            <a:ext cx="1920240" cy="1234440"/>
          </a:xfrm>
          <a:prstGeom prst="rect">
            <a:avLst/>
          </a:prstGeom>
          <a:solidFill>
            <a:srgbClr val="B85042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03136" y="804672"/>
            <a:ext cx="192024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6%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803136" y="1483614"/>
            <a:ext cx="1920240" cy="518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Pipeline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Errors</a:t>
            </a:r>
            <a:endParaRPr lang="en-US" sz="11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274320" y="2176272"/>
          <a:ext cx="420624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pic>
        <p:nvPicPr>
          <p:cNvPr id="19" name="Image 0" descr="C:\Users\olete\OneDrive\Desktop\RAPTOR\raptor_final_proj\RAPTOR_final_proj\outputs\figures\fig3_answer_length_di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176272"/>
            <a:ext cx="4114800" cy="265176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754880" y="4828032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length (chars) by status — refusals cluster between 200-400 chars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64592"/>
            <a:ext cx="384048" cy="384048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49808" y="1371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 Results — Paper Benchmarks vs. Our Reproduction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658368"/>
            <a:ext cx="8595360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274320" y="777240"/>
          <a:ext cx="50292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577840" y="804672"/>
            <a:ext cx="32918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577840" y="804672"/>
            <a:ext cx="3291840" cy="402336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9" name="Text 6"/>
          <p:cNvSpPr/>
          <p:nvPr/>
        </p:nvSpPr>
        <p:spPr>
          <a:xfrm>
            <a:off x="5577840" y="804672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Implementation (FRAMES)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669280" y="131673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Accuracy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315200" y="131673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669280" y="1700784"/>
            <a:ext cx="3017520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69280" y="184708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Match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315200" y="184708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50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669280" y="2231136"/>
            <a:ext cx="3017520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69280" y="23774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Model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315200" y="23774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2.5 7B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669280" y="2761488"/>
            <a:ext cx="3017520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669280" y="290779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315200" y="29077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 (harder)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669280" y="3291840"/>
            <a:ext cx="3017520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669280" y="343814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Answered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315200" y="343814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/ 50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274320" y="4407408"/>
            <a:ext cx="8595360" cy="59436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25" name="Shape 22"/>
          <p:cNvSpPr/>
          <p:nvPr/>
        </p:nvSpPr>
        <p:spPr>
          <a:xfrm>
            <a:off x="274320" y="4407408"/>
            <a:ext cx="64008" cy="594360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26" name="Text 23"/>
          <p:cNvSpPr/>
          <p:nvPr/>
        </p:nvSpPr>
        <p:spPr>
          <a:xfrm>
            <a:off x="429768" y="446227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explained: FRAMES requires 3-8 Wikipedia facts per question (multi-hop). Our local 7B model lacks GPT-4 level reasoning, and per-article RAPTOR trees cannot bridge cross-article gaps. The pipeline itself is correct — the challenge is the benchmark difficulty.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64592"/>
            <a:ext cx="384048" cy="384048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49808" y="1371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 Problems Encountered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658368"/>
            <a:ext cx="8595360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22960"/>
            <a:ext cx="416052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22960"/>
            <a:ext cx="4160520" cy="64008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8" name="Shape 6"/>
          <p:cNvSpPr/>
          <p:nvPr/>
        </p:nvSpPr>
        <p:spPr>
          <a:xfrm>
            <a:off x="402336" y="987552"/>
            <a:ext cx="420624" cy="42062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9" name="Text 7"/>
          <p:cNvSpPr/>
          <p:nvPr/>
        </p:nvSpPr>
        <p:spPr>
          <a:xfrm>
            <a:off x="402336" y="9875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987552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Conflicts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02336" y="1481328"/>
            <a:ext cx="3904488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2336" y="1572768"/>
            <a:ext cx="390448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numpy, scikit-learn, umap-learn, sentence-transformers all had version clashes. Required manual pinning of exact versions.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90872" y="822960"/>
            <a:ext cx="416052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90872" y="822960"/>
            <a:ext cx="4160520" cy="64008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15" name="Shape 13"/>
          <p:cNvSpPr/>
          <p:nvPr/>
        </p:nvSpPr>
        <p:spPr>
          <a:xfrm>
            <a:off x="4818888" y="987552"/>
            <a:ext cx="420624" cy="420624"/>
          </a:xfrm>
          <a:prstGeom prst="ellipse">
            <a:avLst/>
          </a:prstGeom>
          <a:solidFill>
            <a:srgbClr val="2E5090"/>
          </a:solidFill>
          <a:ln/>
        </p:spPr>
      </p:sp>
      <p:sp>
        <p:nvSpPr>
          <p:cNvPr id="16" name="Text 14"/>
          <p:cNvSpPr/>
          <p:nvPr/>
        </p:nvSpPr>
        <p:spPr>
          <a:xfrm>
            <a:off x="4818888" y="9875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330952" y="987552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→ Ollama Adaptation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18888" y="1481328"/>
            <a:ext cx="3904488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18888" y="1572768"/>
            <a:ext cx="390448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RAPTOR depends on OpenAI GPT-4 + ada-002. We wrote OllamaSummarizer, OllamaQA, OllamaEmbedding adapter classes to satisfy the same interfaces.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2770632"/>
            <a:ext cx="416052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770632"/>
            <a:ext cx="4160520" cy="64008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22" name="Shape 20"/>
          <p:cNvSpPr/>
          <p:nvPr/>
        </p:nvSpPr>
        <p:spPr>
          <a:xfrm>
            <a:off x="402336" y="2935224"/>
            <a:ext cx="420624" cy="420624"/>
          </a:xfrm>
          <a:prstGeom prst="ellipse">
            <a:avLst/>
          </a:prstGeom>
          <a:solidFill>
            <a:srgbClr val="E07B39"/>
          </a:solidFill>
          <a:ln/>
        </p:spPr>
      </p:sp>
      <p:sp>
        <p:nvSpPr>
          <p:cNvPr id="23" name="Text 21"/>
          <p:cNvSpPr/>
          <p:nvPr/>
        </p:nvSpPr>
        <p:spPr>
          <a:xfrm>
            <a:off x="402336" y="29352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14400" y="2935224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 Multi-Hop Gap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02336" y="3429000"/>
            <a:ext cx="3904488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2336" y="3520440"/>
            <a:ext cx="390448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 questions need 3–8 chained Wikipedia facts. Single-article RAPTOR trees lack cross-article fusion; 90% of answers triggered insufficient-context refusals.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90872" y="2770632"/>
            <a:ext cx="416052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90872" y="2770632"/>
            <a:ext cx="4160520" cy="64008"/>
          </a:xfrm>
          <a:prstGeom prst="rect">
            <a:avLst/>
          </a:prstGeom>
          <a:solidFill>
            <a:srgbClr val="5C8374"/>
          </a:solidFill>
          <a:ln/>
        </p:spPr>
      </p:sp>
      <p:sp>
        <p:nvSpPr>
          <p:cNvPr id="29" name="Shape 27"/>
          <p:cNvSpPr/>
          <p:nvPr/>
        </p:nvSpPr>
        <p:spPr>
          <a:xfrm>
            <a:off x="4818888" y="2935224"/>
            <a:ext cx="420624" cy="420624"/>
          </a:xfrm>
          <a:prstGeom prst="ellipse">
            <a:avLst/>
          </a:prstGeom>
          <a:solidFill>
            <a:srgbClr val="5C8374"/>
          </a:solidFill>
          <a:ln/>
        </p:spPr>
      </p:sp>
      <p:sp>
        <p:nvSpPr>
          <p:cNvPr id="30" name="Text 28"/>
          <p:cNvSpPr/>
          <p:nvPr/>
        </p:nvSpPr>
        <p:spPr>
          <a:xfrm>
            <a:off x="4818888" y="29352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330952" y="2935224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Encoding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818888" y="3429000"/>
            <a:ext cx="3904488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18888" y="3520440"/>
            <a:ext cx="390448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UnicodeEncodeError on emoji and non-ASCII text under PowerShell cp1252. Fixed with UTF-8 stream wrappers and ensure_ascii=False in JSON.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64592"/>
            <a:ext cx="384048" cy="384048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49808" y="1371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 Reproduction Plan — Task Completion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658368"/>
            <a:ext cx="8595360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04672"/>
          <a:ext cx="859536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822960"/>
                <a:gridCol w="822960"/>
                <a:gridCol w="347472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Article Comprehension &amp; Basic RAG Infrastructure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762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Done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RAPTOR library + Ollama adapters integrated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Chunking + Embeddings Pipeline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762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Done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Sentence-aware chunking + nomic-embed-text (768d)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Clustering + Tree Construction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762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Done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UMAP + GMM + BIC auto-k, recursive builder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Tree Retrieval (Collapsed Tree)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762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Done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Collapsed tree strategy verified on all samples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 on FRAMES Benchmark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762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Done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questions, results analyzed &amp; visualized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 + Final Presentation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762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Done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document + Word report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45720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62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Complete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103120" y="4663440"/>
            <a:ext cx="6766560" cy="18288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" name="Shape 6"/>
          <p:cNvSpPr/>
          <p:nvPr/>
        </p:nvSpPr>
        <p:spPr>
          <a:xfrm>
            <a:off x="2103120" y="4663440"/>
            <a:ext cx="6766560" cy="182880"/>
          </a:xfrm>
          <a:prstGeom prst="rect">
            <a:avLst/>
          </a:prstGeom>
          <a:solidFill>
            <a:srgbClr val="276221"/>
          </a:solidFill>
          <a:ln/>
        </p:spPr>
      </p:sp>
      <p:sp>
        <p:nvSpPr>
          <p:cNvPr id="10" name="Text 7"/>
          <p:cNvSpPr/>
          <p:nvPr/>
        </p:nvSpPr>
        <p:spPr>
          <a:xfrm>
            <a:off x="274320" y="484632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 tasks completed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3474720" y="0"/>
            <a:ext cx="109728" cy="5143500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36576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Bibliography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82880" y="100584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= cited in report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 = supplementary reading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749040" y="274320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EF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Sources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749040" y="640080"/>
            <a:ext cx="5120640" cy="292608"/>
          </a:xfrm>
          <a:prstGeom prst="rect">
            <a:avLst/>
          </a:prstGeom>
          <a:solidFill>
            <a:srgbClr val="1A3A22"/>
          </a:solidFill>
          <a:ln/>
        </p:spPr>
      </p:sp>
      <p:sp>
        <p:nvSpPr>
          <p:cNvPr id="8" name="Text 6"/>
          <p:cNvSpPr/>
          <p:nvPr/>
        </p:nvSpPr>
        <p:spPr>
          <a:xfrm>
            <a:off x="3794760" y="65836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6EF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Sarthi et al. RAPTOR. ICLR 2024. arXiv:2401.18059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749040" y="978408"/>
            <a:ext cx="5120640" cy="292608"/>
          </a:xfrm>
          <a:prstGeom prst="rect">
            <a:avLst/>
          </a:prstGeom>
          <a:solidFill>
            <a:srgbClr val="1A3A22"/>
          </a:solidFill>
          <a:ln/>
        </p:spPr>
      </p:sp>
      <p:sp>
        <p:nvSpPr>
          <p:cNvPr id="10" name="Text 8"/>
          <p:cNvSpPr/>
          <p:nvPr/>
        </p:nvSpPr>
        <p:spPr>
          <a:xfrm>
            <a:off x="3794760" y="99669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6EF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McInnes et al. UMAP. 2018. arXiv:1802.03426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749040" y="1316736"/>
            <a:ext cx="5120640" cy="292608"/>
          </a:xfrm>
          <a:prstGeom prst="rect">
            <a:avLst/>
          </a:prstGeom>
          <a:solidFill>
            <a:srgbClr val="1A3A22"/>
          </a:solidFill>
          <a:ln/>
        </p:spPr>
      </p:sp>
      <p:sp>
        <p:nvSpPr>
          <p:cNvPr id="12" name="Text 10"/>
          <p:cNvSpPr/>
          <p:nvPr/>
        </p:nvSpPr>
        <p:spPr>
          <a:xfrm>
            <a:off x="3794760" y="133502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6EF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Schwarz. BIC for GMM. Annals of Statistics, 1978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749040" y="1655064"/>
            <a:ext cx="5120640" cy="292608"/>
          </a:xfrm>
          <a:prstGeom prst="rect">
            <a:avLst/>
          </a:prstGeom>
          <a:solidFill>
            <a:srgbClr val="1A3A22"/>
          </a:solidFill>
          <a:ln/>
        </p:spPr>
      </p:sp>
      <p:sp>
        <p:nvSpPr>
          <p:cNvPr id="14" name="Text 12"/>
          <p:cNvSpPr/>
          <p:nvPr/>
        </p:nvSpPr>
        <p:spPr>
          <a:xfrm>
            <a:off x="3794760" y="167335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6EF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Yu et al. FRAMES Benchmark. Google DeepMind, 2024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749040" y="1993392"/>
            <a:ext cx="5120640" cy="292608"/>
          </a:xfrm>
          <a:prstGeom prst="rect">
            <a:avLst/>
          </a:prstGeom>
          <a:solidFill>
            <a:srgbClr val="1A3A22"/>
          </a:solidFill>
          <a:ln/>
        </p:spPr>
      </p:sp>
      <p:sp>
        <p:nvSpPr>
          <p:cNvPr id="16" name="Text 14"/>
          <p:cNvSpPr/>
          <p:nvPr/>
        </p:nvSpPr>
        <p:spPr>
          <a:xfrm>
            <a:off x="3794760" y="20116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6EF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Qwen Team. Qwen2.5 Technical Report. 2024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749040" y="2331720"/>
            <a:ext cx="5120640" cy="292608"/>
          </a:xfrm>
          <a:prstGeom prst="rect">
            <a:avLst/>
          </a:prstGeom>
          <a:solidFill>
            <a:srgbClr val="1A3A22"/>
          </a:solidFill>
          <a:ln/>
        </p:spPr>
      </p:sp>
      <p:sp>
        <p:nvSpPr>
          <p:cNvPr id="18" name="Text 16"/>
          <p:cNvSpPr/>
          <p:nvPr/>
        </p:nvSpPr>
        <p:spPr>
          <a:xfrm>
            <a:off x="3794760" y="23500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6EF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Nomic AI. nomic-embed-text. 2024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749040" y="2670048"/>
            <a:ext cx="5120640" cy="292608"/>
          </a:xfrm>
          <a:prstGeom prst="rect">
            <a:avLst/>
          </a:prstGeom>
          <a:solidFill>
            <a:srgbClr val="1A3A22"/>
          </a:solidFill>
          <a:ln/>
        </p:spPr>
      </p:sp>
      <p:sp>
        <p:nvSpPr>
          <p:cNvPr id="20" name="Text 18"/>
          <p:cNvSpPr/>
          <p:nvPr/>
        </p:nvSpPr>
        <p:spPr>
          <a:xfrm>
            <a:off x="3794760" y="268833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6EF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Ollama. Open-Source Local LLM Server. 2024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749040" y="3008376"/>
            <a:ext cx="5120640" cy="292608"/>
          </a:xfrm>
          <a:prstGeom prst="rect">
            <a:avLst/>
          </a:prstGeom>
          <a:solidFill>
            <a:srgbClr val="1A3A22"/>
          </a:solidFill>
          <a:ln/>
        </p:spPr>
      </p:sp>
      <p:sp>
        <p:nvSpPr>
          <p:cNvPr id="22" name="Text 20"/>
          <p:cNvSpPr/>
          <p:nvPr/>
        </p:nvSpPr>
        <p:spPr>
          <a:xfrm>
            <a:off x="3794760" y="302666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6EF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parthsarthi03. RAPTOR GitHub Repo. 2024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749040" y="3364992"/>
            <a:ext cx="5120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E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Supplementary Reading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749040" y="3703320"/>
            <a:ext cx="5120640" cy="228600"/>
          </a:xfrm>
          <a:prstGeom prst="rect">
            <a:avLst/>
          </a:prstGeom>
          <a:solidFill>
            <a:srgbClr val="333300"/>
          </a:solidFill>
          <a:ln/>
        </p:spPr>
      </p:sp>
      <p:sp>
        <p:nvSpPr>
          <p:cNvPr id="25" name="Text 23"/>
          <p:cNvSpPr/>
          <p:nvPr/>
        </p:nvSpPr>
        <p:spPr>
          <a:xfrm>
            <a:off x="3794760" y="371246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E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Lewis et al. RAG for NLP. NeurIPS 2020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749040" y="3968496"/>
            <a:ext cx="5120640" cy="228600"/>
          </a:xfrm>
          <a:prstGeom prst="rect">
            <a:avLst/>
          </a:prstGeom>
          <a:solidFill>
            <a:srgbClr val="333300"/>
          </a:solidFill>
          <a:ln/>
        </p:spPr>
      </p:sp>
      <p:sp>
        <p:nvSpPr>
          <p:cNvPr id="27" name="Text 25"/>
          <p:cNvSpPr/>
          <p:nvPr/>
        </p:nvSpPr>
        <p:spPr>
          <a:xfrm>
            <a:off x="3794760" y="39776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E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Reimers &amp; Gurevych. Sentence-BERT. EMNLP 2019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749040" y="4233672"/>
            <a:ext cx="5120640" cy="228600"/>
          </a:xfrm>
          <a:prstGeom prst="rect">
            <a:avLst/>
          </a:prstGeom>
          <a:solidFill>
            <a:srgbClr val="333300"/>
          </a:solidFill>
          <a:ln/>
        </p:spPr>
      </p:sp>
      <p:sp>
        <p:nvSpPr>
          <p:cNvPr id="29" name="Text 27"/>
          <p:cNvSpPr/>
          <p:nvPr/>
        </p:nvSpPr>
        <p:spPr>
          <a:xfrm>
            <a:off x="3794760" y="4242816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E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Kočiský et al. NarrativeQA. TACL 2018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749040" y="4498848"/>
            <a:ext cx="5120640" cy="228600"/>
          </a:xfrm>
          <a:prstGeom prst="rect">
            <a:avLst/>
          </a:prstGeom>
          <a:solidFill>
            <a:srgbClr val="333300"/>
          </a:solidFill>
          <a:ln/>
        </p:spPr>
      </p:sp>
      <p:sp>
        <p:nvSpPr>
          <p:cNvPr id="31" name="Text 29"/>
          <p:cNvSpPr/>
          <p:nvPr/>
        </p:nvSpPr>
        <p:spPr>
          <a:xfrm>
            <a:off x="3794760" y="450799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E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Dasigi et al. QASPER. NAACL 2021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749040" y="4764024"/>
            <a:ext cx="5120640" cy="228600"/>
          </a:xfrm>
          <a:prstGeom prst="rect">
            <a:avLst/>
          </a:prstGeom>
          <a:solidFill>
            <a:srgbClr val="333300"/>
          </a:solidFill>
          <a:ln/>
        </p:spPr>
      </p:sp>
      <p:sp>
        <p:nvSpPr>
          <p:cNvPr id="33" name="Text 31"/>
          <p:cNvSpPr/>
          <p:nvPr/>
        </p:nvSpPr>
        <p:spPr>
          <a:xfrm>
            <a:off x="3794760" y="477316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E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Pang et al. QuALITY. NAACL 2022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82880" y="365760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07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you!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182880" y="42519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RAPTOR: Recursive Abstractive Processing for Tree-Organized Retrieval</dc:title>
  <dc:subject>PptxGenJS Presentation</dc:subject>
  <dc:creator>Eitan Weizman &amp; Itamar Haimov</dc:creator>
  <cp:lastModifiedBy>Eitan Weizman &amp; Itamar Haimov</cp:lastModifiedBy>
  <cp:revision>1</cp:revision>
  <dcterms:created xsi:type="dcterms:W3CDTF">2026-06-14T12:03:26Z</dcterms:created>
  <dcterms:modified xsi:type="dcterms:W3CDTF">2026-06-14T12:03:26Z</dcterms:modified>
</cp:coreProperties>
</file>